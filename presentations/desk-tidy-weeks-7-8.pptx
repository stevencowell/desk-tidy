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19d831390d54a23" /><Relationship Type="http://schemas.openxmlformats.org/officeDocument/2006/relationships/extended-properties" Target="/docProps/app.xml" Id="R22325b1f2d7b492d" /><Relationship Type="http://schemas.openxmlformats.org/officeDocument/2006/relationships/officeDocument" Target="/ppt/presentation.xml" Id="Re66d3878b5294d1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ccc07cf3b8c4b6e"/>
  </p:sldMasterIdLst>
  <p:notesMasterIdLst>
    <p:notesMasterId xmlns:r="http://schemas.openxmlformats.org/officeDocument/2006/relationships" r:id="Rfc4425eb145d4acb"/>
  </p:notesMasterIdLst>
  <p:sldIdLst>
    <p:sldId xmlns:r="http://schemas.openxmlformats.org/officeDocument/2006/relationships" id="256" r:id="R4c8a24c32dd9438b"/>
    <p:sldId xmlns:r="http://schemas.openxmlformats.org/officeDocument/2006/relationships" id="257" r:id="R0cec549f5db94eb7"/>
    <p:sldId xmlns:r="http://schemas.openxmlformats.org/officeDocument/2006/relationships" id="258" r:id="R0d33d33b62bc4eab"/>
    <p:sldId xmlns:r="http://schemas.openxmlformats.org/officeDocument/2006/relationships" id="259" r:id="R65831307e2384b81"/>
    <p:sldId xmlns:r="http://schemas.openxmlformats.org/officeDocument/2006/relationships" id="260" r:id="Rffcac168475242a0"/>
    <p:sldId xmlns:r="http://schemas.openxmlformats.org/officeDocument/2006/relationships" id="261" r:id="Rb45dc6f6638f494f"/>
    <p:sldId xmlns:r="http://schemas.openxmlformats.org/officeDocument/2006/relationships" id="262" r:id="R3ad603a5e4ec4d77"/>
    <p:sldId xmlns:r="http://schemas.openxmlformats.org/officeDocument/2006/relationships" id="263" r:id="R52079a571ab84c8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4197c92735f4975" /><Relationship Type="http://schemas.openxmlformats.org/officeDocument/2006/relationships/slideMaster" Target="/ppt/slideMasters/slideMaster1.xml" Id="R8ccc07cf3b8c4b6e" /><Relationship Type="http://schemas.openxmlformats.org/officeDocument/2006/relationships/notesMaster" Target="/ppt/notesMasters/notesMaster1.xml" Id="Rfc4425eb145d4acb" /><Relationship Type="http://schemas.openxmlformats.org/officeDocument/2006/relationships/presProps" Target="/ppt/presProps.xml" Id="Rfa9ab406f40b4b49" /><Relationship Type="http://schemas.openxmlformats.org/officeDocument/2006/relationships/tableStyles" Target="/ppt/tableStyles.xml" Id="Rfc4fb38302464aaf" /><Relationship Type="http://schemas.openxmlformats.org/officeDocument/2006/relationships/slide" Target="/ppt/slides/slide1.xml" Id="R4c8a24c32dd9438b" /><Relationship Type="http://schemas.openxmlformats.org/officeDocument/2006/relationships/slide" Target="/ppt/slides/slide2.xml" Id="R0cec549f5db94eb7" /><Relationship Type="http://schemas.openxmlformats.org/officeDocument/2006/relationships/slide" Target="/ppt/slides/slide3.xml" Id="R0d33d33b62bc4eab" /><Relationship Type="http://schemas.openxmlformats.org/officeDocument/2006/relationships/slide" Target="/ppt/slides/slide4.xml" Id="R65831307e2384b81" /><Relationship Type="http://schemas.openxmlformats.org/officeDocument/2006/relationships/slide" Target="/ppt/slides/slide5.xml" Id="Rffcac168475242a0" /><Relationship Type="http://schemas.openxmlformats.org/officeDocument/2006/relationships/slide" Target="/ppt/slides/slide6.xml" Id="Rb45dc6f6638f494f" /><Relationship Type="http://schemas.openxmlformats.org/officeDocument/2006/relationships/slide" Target="/ppt/slides/slide7.xml" Id="R3ad603a5e4ec4d77" /><Relationship Type="http://schemas.openxmlformats.org/officeDocument/2006/relationships/slide" Target="/ppt/slides/slide8.xml" Id="R52079a571ab84c8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3a7d0d0696d4f9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0fbfd6d26f645d5" /><Relationship Type="http://schemas.openxmlformats.org/officeDocument/2006/relationships/notesMaster" Target="/ppt/notesMasters/notesMaster1.xml" Id="Rf02ed4d2cdd9494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2f7009a4d724cab" /><Relationship Type="http://schemas.openxmlformats.org/officeDocument/2006/relationships/notesMaster" Target="/ppt/notesMasters/notesMaster1.xml" Id="R655a8b10dec24b4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25a99b783dd4957" /><Relationship Type="http://schemas.openxmlformats.org/officeDocument/2006/relationships/notesMaster" Target="/ppt/notesMasters/notesMaster1.xml" Id="R5368fd604b09445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d7b9d480f9c4e9d" /><Relationship Type="http://schemas.openxmlformats.org/officeDocument/2006/relationships/notesMaster" Target="/ppt/notesMasters/notesMaster1.xml" Id="R06d4e23788ca497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00544f0d7304259" /><Relationship Type="http://schemas.openxmlformats.org/officeDocument/2006/relationships/notesMaster" Target="/ppt/notesMasters/notesMaster1.xml" Id="Rb3e901e319594e9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28985c23c004831" /><Relationship Type="http://schemas.openxmlformats.org/officeDocument/2006/relationships/notesMaster" Target="/ppt/notesMasters/notesMaster1.xml" Id="Ra14d4c95aa2d4f1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a9a775f5cf548a9" /><Relationship Type="http://schemas.openxmlformats.org/officeDocument/2006/relationships/notesMaster" Target="/ppt/notesMasters/notesMaster1.xml" Id="Ra686516b7df84ba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e71e23a46344dc6" /><Relationship Type="http://schemas.openxmlformats.org/officeDocument/2006/relationships/notesMaster" Target="/ppt/notesMasters/notesMaster1.xml" Id="R4f0d6bbf70d544f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retrieval question. Accept tentative ideas, then direct students to the module theory.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assets/desk-tidy-reference.png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Preview the three named theory sections and tell students what evidence they will retain.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weeks7-8/index.html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visual to explain the section. Ask students to connect each takeaway to the adjacent course theory; do not add unconfirmed practical details.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assets/tenon-saw.jpg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visual to explain the section. Ask students to connect each takeaway to the adjacent course theory; do not add unconfirmed practical details.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assets/butt-joint.jpg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visual to explain the section. Ask students to connect each takeaway to the adjacent course theory; do not add unconfirmed practical details.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assets/f-clamps.jpeg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as a formative pause. Do not display or supply teacher-only answers.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weeks7-8/index.html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Model the response process without giving an answer to a live student question.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weeks7-8/index.html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Finish with a student response, then return to the course module for checks, written evidence and folio saving.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assets/desk-tidy-reference.png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2f403bc74c467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217c4a7a0444680" /><Relationship Type="http://schemas.openxmlformats.org/officeDocument/2006/relationships/slideLayout" Target="/ppt/slideLayouts/slideLayout1.xml" Id="R5ef6bfd7f4064dd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ef6bfd7f4064dd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93723081824ce1" /><Relationship Type="http://schemas.openxmlformats.org/officeDocument/2006/relationships/image" Target="/ppt/media/image.png" Id="R25bb7b828dbc444f" /><Relationship Type="http://schemas.openxmlformats.org/officeDocument/2006/relationships/notesSlide" Target="/ppt/notesSlides/notesSlide1.xml" Id="R02c90d6e04174db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839d01c2ca4b08" /><Relationship Type="http://schemas.openxmlformats.org/officeDocument/2006/relationships/notesSlide" Target="/ppt/notesSlides/notesSlide2.xml" Id="Re011980e3b4f405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8b54cadb5949a8" /><Relationship Type="http://schemas.openxmlformats.org/officeDocument/2006/relationships/image" Target="/ppt/media/image.jpeg" Id="R45872225e8a24a3d" /><Relationship Type="http://schemas.openxmlformats.org/officeDocument/2006/relationships/notesSlide" Target="/ppt/notesSlides/notesSlide3.xml" Id="R84ea085ae87248e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0fb125d4994f7c" /><Relationship Type="http://schemas.openxmlformats.org/officeDocument/2006/relationships/image" Target="/ppt/media/image2.jpeg" Id="Rb655145e4f394a23" /><Relationship Type="http://schemas.openxmlformats.org/officeDocument/2006/relationships/notesSlide" Target="/ppt/notesSlides/notesSlide4.xml" Id="R56d81197644048a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05dd3a545443b5" /><Relationship Type="http://schemas.openxmlformats.org/officeDocument/2006/relationships/image" Target="/ppt/media/image3.jpeg" Id="R2e07392d53304222" /><Relationship Type="http://schemas.openxmlformats.org/officeDocument/2006/relationships/notesSlide" Target="/ppt/notesSlides/notesSlide5.xml" Id="Rdccb2470f404496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814d6b98844159" /><Relationship Type="http://schemas.openxmlformats.org/officeDocument/2006/relationships/notesSlide" Target="/ppt/notesSlides/notesSlide6.xml" Id="Re767464b8dbc4e2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dae96530aa4b0c" /><Relationship Type="http://schemas.openxmlformats.org/officeDocument/2006/relationships/notesSlide" Target="/ppt/notesSlides/notesSlide7.xml" Id="Rbda307fbe6484c0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5ac04e26644269" /><Relationship Type="http://schemas.openxmlformats.org/officeDocument/2006/relationships/image" Target="/ppt/media/image2.png" Id="Rb42f0bfb64aa46b1" /><Relationship Type="http://schemas.openxmlformats.org/officeDocument/2006/relationships/notesSlide" Target="/ppt/notesSlides/notesSlide8.xml" Id="R8209c44602354f7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C08508FA-8B07-48DA-B7C8-FE144A8A9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38250"/>
            <a:ext cx="4953000" cy="2190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5000" b="1">
                <a:solidFill>
                  <a:srgbClr val="173126"/>
                </a:solidFill>
                <a:latin typeface="Aptos"/>
                <a:ea typeface="Aptos"/>
                <a:cs typeface="Aptos"/>
              </a:defRPr>
            </a:pPr>
            <a:r>
              <a:rPr sz="5000" b="1">
                <a:solidFill>
                  <a:srgbClr val="173126"/>
                </a:solidFill>
                <a:latin typeface="Aptos"/>
                <a:ea typeface="Aptos"/>
                <a:cs typeface="Aptos"/>
              </a:rPr>
              <a:t>Produce and assemble safely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B4A2B1C1-37FB-40DF-AEFC-4880B63BE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71875"/>
            <a:ext cx="476250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000" b="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000" b="0">
                <a:solidFill>
                  <a:srgbClr val="5A665F"/>
                </a:solidFill>
                <a:latin typeface="Aptos"/>
                <a:ea typeface="Aptos"/>
                <a:cs typeface="Aptos"/>
              </a:rPr>
              <a:t>Read the theory, check your understanding and save your own evidence.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BFBC781B-DABF-4B1F-9E39-1B1D7AEF6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81050"/>
            <a:ext cx="4381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38100" rIns="38100" bIns="38100" anchor="t">
            <a:normAutofit fontScale="8503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00" b="1">
                <a:solidFill>
                  <a:srgbClr val="D8941C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D8941C"/>
                </a:solidFill>
                <a:latin typeface="Aptos"/>
                <a:ea typeface="Aptos"/>
                <a:cs typeface="Aptos"/>
              </a:rPr>
              <a:t>DESK TIDY · WEEKS 7-8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0B87C8-10DD-40F6-BABD-21860835B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438150"/>
            <a:ext cx="5810250" cy="5676900"/>
          </a:xfrm>
          <a:prstGeom xmlns:a="http://schemas.openxmlformats.org/drawingml/2006/main" prst="roundRect">
            <a:avLst>
              <a:gd name="adj" fmla="val 2013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941C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bb7b828dbc444f"/>
          <a:srcRect xmlns:a="http://schemas.openxmlformats.org/drawingml/2006/main" l="0" t="1228" r="0" b="12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48375" y="628650"/>
            <a:ext cx="5429250" cy="5295900"/>
          </a:xfrm>
          <a:prstGeom xmlns:a="http://schemas.openxmlformats.org/drawingml/2006/main" prst="roundRect">
            <a:avLst>
              <a:gd name="adj" fmla="val 2158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0CEF56-094E-433F-8C4D-40ED08B0E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5300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173126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73126"/>
                </a:solidFill>
                <a:latin typeface="Aptos"/>
                <a:ea typeface="Aptos"/>
                <a:cs typeface="Aptos"/>
              </a:rPr>
              <a:t>BEFORE YOU BEGIN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173126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73126"/>
                </a:solidFill>
                <a:latin typeface="Aptos"/>
                <a:ea typeface="Aptos"/>
                <a:cs typeface="Aptos"/>
              </a:rPr>
              <a:t>What do you already know—and what evidence would prove it?</a:t>
            </a:r>
          </a:p>
        </p:txBody>
      </p:sp>
    </p:spTree>
    <p:extLst>
      <p:ext uri="{BB962C8B-B14F-4D97-AF65-F5344CB8AC3E}">
        <p14:creationId xmlns:p14="http://schemas.microsoft.com/office/powerpoint/2010/main" val="176878109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BAF1C8C4-E5AD-4740-9D00-06018185C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960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38100" rIns="38100" bIns="38100" anchor="ctr">
            <a:normAutofit fontScale="6493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1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A0B5DBAF-3095-4071-869E-B07CDD370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4350"/>
            <a:ext cx="104775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600" b="1">
                <a:solidFill>
                  <a:srgbClr val="173126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73126"/>
                </a:solidFill>
                <a:latin typeface="Aptos"/>
                <a:ea typeface="Aptos"/>
                <a:cs typeface="Aptos"/>
              </a:rPr>
              <a:t>Three ideas build one evidence trail</a:t>
            </a:r>
          </a:p>
        </p:txBody>
      </p:sp>
      <p:cxnSp>
        <p:nvCxnSpPr>
          <p:cNvPr id="25" name="Google-Shape-2259-p159-4"/>
          <p:cNvCxnSpPr/>
          <p:nvPr/>
        </p:nvCxn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straightConnector1">
            <a:avLst/>
          </a:prstGeom>
          <a:ln xmlns:a="http://schemas.openxmlformats.org/drawingml/2006/main" w="0">
            <a:noFill/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EDB82C42-D1EE-4C2F-88ED-1BA1C8BFB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ACCB60D8-5738-4F23-9BF6-90E0DC2A7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2279DF5D-CE46-4325-81E0-6AC899D60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34A527B4-C0B5-47D1-AD66-97A5C12C4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71700"/>
            <a:ext cx="6667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00" b="1">
                <a:solidFill>
                  <a:srgbClr val="D8941C"/>
                </a:solidFill>
                <a:latin typeface="Aptos"/>
                <a:ea typeface="Aptos"/>
                <a:cs typeface="Aptos"/>
              </a:defRPr>
            </a:pPr>
            <a:r>
              <a:rPr sz="2800" b="1">
                <a:solidFill>
                  <a:srgbClr val="D8941C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ED31392D-E529-4A16-A19C-7342119EB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171700"/>
            <a:ext cx="6667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00" b="1">
                <a:solidFill>
                  <a:srgbClr val="D8941C"/>
                </a:solidFill>
                <a:latin typeface="Aptos"/>
                <a:ea typeface="Aptos"/>
                <a:cs typeface="Aptos"/>
              </a:defRPr>
            </a:pPr>
            <a:r>
              <a:rPr sz="2800" b="1">
                <a:solidFill>
                  <a:srgbClr val="D8941C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879B6BDB-A94E-493C-BA45-DDC9B3528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171700"/>
            <a:ext cx="6667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00" b="1">
                <a:solidFill>
                  <a:srgbClr val="D8941C"/>
                </a:solidFill>
                <a:latin typeface="Aptos"/>
                <a:ea typeface="Aptos"/>
                <a:cs typeface="Aptos"/>
              </a:defRPr>
            </a:pPr>
            <a:r>
              <a:rPr sz="2800" b="1">
                <a:solidFill>
                  <a:srgbClr val="D8941C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48CD6CF5-2ED3-4F99-B07C-661E3534B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81300"/>
            <a:ext cx="2419350" cy="213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00" b="0">
                <a:solidFill>
                  <a:srgbClr val="173126"/>
                </a:solidFill>
                <a:latin typeface="Aptos"/>
                <a:ea typeface="Aptos"/>
                <a:cs typeface="Aptos"/>
              </a:defRPr>
            </a:pPr>
            <a:r>
              <a:rPr sz="1600" b="0">
                <a:solidFill>
                  <a:srgbClr val="173126"/>
                </a:solidFill>
                <a:latin typeface="Aptos"/>
                <a:ea typeface="Aptos"/>
                <a:cs typeface="Aptos"/>
              </a:rPr>
              <a:t>Cutting and shaping components accurately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/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00" b="0">
                <a:solidFill>
                  <a:srgbClr val="173126"/>
                </a:solidFill>
                <a:latin typeface="Aptos"/>
                <a:ea typeface="Aptos"/>
                <a:cs typeface="Aptos"/>
              </a:defRPr>
            </a:pPr>
            <a:r>
              <a:rPr sz="1600" b="0">
                <a:solidFill>
                  <a:srgbClr val="173126"/>
                </a:solidFill>
                <a:latin typeface="Aptos"/>
                <a:ea typeface="Aptos"/>
                <a:cs typeface="Aptos"/>
              </a:rPr>
              <a:t>Secure: Hold the work in the demonstrated bench hook or vice setup.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F1E7DBFE-0DB7-48C6-8B95-576954B0B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781300"/>
            <a:ext cx="2419350" cy="213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00" b="0">
                <a:solidFill>
                  <a:srgbClr val="173126"/>
                </a:solidFill>
                <a:latin typeface="Aptos"/>
                <a:ea typeface="Aptos"/>
                <a:cs typeface="Aptos"/>
              </a:defRPr>
            </a:pPr>
            <a:r>
              <a:rPr sz="1600" b="0">
                <a:solidFill>
                  <a:srgbClr val="173126"/>
                </a:solidFill>
                <a:latin typeface="Aptos"/>
                <a:ea typeface="Aptos"/>
                <a:cs typeface="Aptos"/>
              </a:rPr>
              <a:t>Butt, rebate and dowel joints in a Desk Tidy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/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00" b="0">
                <a:solidFill>
                  <a:srgbClr val="173126"/>
                </a:solidFill>
                <a:latin typeface="Aptos"/>
                <a:ea typeface="Aptos"/>
                <a:cs typeface="Aptos"/>
              </a:defRPr>
            </a:pPr>
            <a:r>
              <a:rPr sz="1600" b="0">
                <a:solidFill>
                  <a:srgbClr val="173126"/>
                </a:solidFill>
                <a:latin typeface="Aptos"/>
                <a:ea typeface="Aptos"/>
                <a:cs typeface="Aptos"/>
              </a:rPr>
              <a:t>A joint should suit the parts being connected, the required accuracy and the approved design.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FD8745F0-CAAD-4C60-9934-C5CFB7723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781300"/>
            <a:ext cx="2419350" cy="213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00" b="0">
                <a:solidFill>
                  <a:srgbClr val="173126"/>
                </a:solidFill>
                <a:latin typeface="Aptos"/>
                <a:ea typeface="Aptos"/>
                <a:cs typeface="Aptos"/>
              </a:defRPr>
            </a:pPr>
            <a:r>
              <a:rPr sz="1600" b="0">
                <a:solidFill>
                  <a:srgbClr val="173126"/>
                </a:solidFill>
                <a:latin typeface="Aptos"/>
                <a:ea typeface="Aptos"/>
                <a:cs typeface="Aptos"/>
              </a:rPr>
              <a:t>Dry fitting, PVA assembly and surface preparation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/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00" b="0">
                <a:solidFill>
                  <a:srgbClr val="173126"/>
                </a:solidFill>
                <a:latin typeface="Aptos"/>
                <a:ea typeface="Aptos"/>
                <a:cs typeface="Aptos"/>
              </a:defRPr>
            </a:pPr>
            <a:r>
              <a:rPr sz="1600" b="0">
                <a:solidFill>
                  <a:srgbClr val="173126"/>
                </a:solidFill>
                <a:latin typeface="Aptos"/>
                <a:ea typeface="Aptos"/>
                <a:cs typeface="Aptos"/>
              </a:rPr>
              <a:t>Dry fit: Assemble all parts and check order, fit, square and stability.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46F09A-636C-4A36-9922-A26172A0A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90625"/>
            <a:ext cx="933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000" b="0">
                <a:solidFill>
                  <a:srgbClr val="5A665F"/>
                </a:solidFill>
                <a:latin typeface="Aptos"/>
                <a:ea typeface="Aptos"/>
                <a:cs typeface="Aptos"/>
              </a:rPr>
              <a:t>Move from understanding → safe application → evidence you can explain.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224254C-AD1B-43E9-A943-05DE57AA3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52625"/>
            <a:ext cx="2952750" cy="3333750"/>
          </a:xfrm>
          <a:prstGeom xmlns:a="http://schemas.openxmlformats.org/drawingml/2006/main" prst="roundRect">
            <a:avLst>
              <a:gd name="adj" fmla="val 3871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AD2A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59E716B-A905-4082-A18D-C51D84B6F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952625"/>
            <a:ext cx="2952750" cy="3333750"/>
          </a:xfrm>
          <a:prstGeom xmlns:a="http://schemas.openxmlformats.org/drawingml/2006/main" prst="roundRect">
            <a:avLst>
              <a:gd name="adj" fmla="val 3871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941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D61FD95-755D-427B-97A5-EE7B90A0F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952625"/>
            <a:ext cx="2952750" cy="3333750"/>
          </a:xfrm>
          <a:prstGeom xmlns:a="http://schemas.openxmlformats.org/drawingml/2006/main" prst="roundRect">
            <a:avLst>
              <a:gd name="adj" fmla="val 3871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AD2AE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76519371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Number-Placeholder-1-2">
            <a:extLst xmlns:a="http://schemas.openxmlformats.org/drawingml/2006/main">
              <a:ext uri="{FF2B5EF4-FFF2-40B4-BE49-F238E27FC236}">
                <a16:creationId xmlns:a16="http://schemas.microsoft.com/office/drawing/2014/main" id="{408BAE4F-0958-4642-8D48-07AE584DF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960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38100" rIns="38100" bIns="38100" anchor="ctr">
            <a:normAutofit fontScale="6493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1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" name="Title-2-3">
            <a:extLst xmlns:a="http://schemas.openxmlformats.org/drawingml/2006/main">
              <a:ext uri="{FF2B5EF4-FFF2-40B4-BE49-F238E27FC236}">
                <a16:creationId xmlns:a16="http://schemas.microsoft.com/office/drawing/2014/main" id="{48ECA808-C327-44F9-9295-D01971DDA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3400"/>
            <a:ext cx="5191125" cy="1504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500" b="1">
                <a:solidFill>
                  <a:srgbClr val="173126"/>
                </a:solidFill>
                <a:latin typeface="Aptos"/>
                <a:ea typeface="Aptos"/>
                <a:cs typeface="Aptos"/>
              </a:defRPr>
            </a:pPr>
            <a:r>
              <a:rPr sz="3500" b="1">
                <a:solidFill>
                  <a:srgbClr val="173126"/>
                </a:solidFill>
                <a:latin typeface="Aptos"/>
                <a:ea typeface="Aptos"/>
                <a:cs typeface="Aptos"/>
              </a:rPr>
              <a:t>Cutting and shaping components accurately</a:t>
            </a:r>
          </a:p>
        </p:txBody>
      </p:sp>
      <p:sp>
        <p:nvSpPr>
          <p:cNvPr id="3" name="Content-Placeholder-9-4">
            <a:extLst xmlns:a="http://schemas.openxmlformats.org/drawingml/2006/main">
              <a:ext uri="{FF2B5EF4-FFF2-40B4-BE49-F238E27FC236}">
                <a16:creationId xmlns:a16="http://schemas.microsoft.com/office/drawing/2014/main" id="{A31A7C36-6010-4F94-8911-6B1BAD3A4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4905375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00" b="0">
                <a:solidFill>
                  <a:srgbClr val="173126"/>
                </a:solidFill>
                <a:latin typeface="Aptos"/>
                <a:ea typeface="Aptos"/>
                <a:cs typeface="Aptos"/>
              </a:defRPr>
            </a:pPr>
            <a:r>
              <a:rPr sz="1700" b="0">
                <a:solidFill>
                  <a:srgbClr val="173126"/>
                </a:solidFill>
                <a:latin typeface="Aptos"/>
                <a:ea typeface="Aptos"/>
                <a:cs typeface="Aptos"/>
              </a:rPr>
              <a:t>01 Secure: Hold the work in the demonstrated bench hook or vice setup.</a:t>
            </a:r>
          </a:p>
        </p:txBody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9F18583D-14E1-4CEB-AD2F-5FC806277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05125"/>
            <a:ext cx="4905375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00" b="0">
                <a:solidFill>
                  <a:srgbClr val="173126"/>
                </a:solidFill>
                <a:latin typeface="Aptos"/>
                <a:ea typeface="Aptos"/>
                <a:cs typeface="Aptos"/>
              </a:defRPr>
            </a:pPr>
            <a:r>
              <a:rPr sz="1700" b="0">
                <a:solidFill>
                  <a:srgbClr val="173126"/>
                </a:solidFill>
                <a:latin typeface="Aptos"/>
                <a:ea typeface="Aptos"/>
                <a:cs typeface="Aptos"/>
              </a:rPr>
              <a:t>02 Confirm: Check the approved mark-out and identify the waste side.</a:t>
            </a:r>
          </a:p>
        </p:txBody>
      </p:sp>
      <p:sp>
        <p:nvSpPr>
          <p:cNvPr id="5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3C7A39D9-8F93-4CB2-ACBE-02055DA93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4905375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00" b="0">
                <a:solidFill>
                  <a:srgbClr val="173126"/>
                </a:solidFill>
                <a:latin typeface="Aptos"/>
                <a:ea typeface="Aptos"/>
                <a:cs typeface="Aptos"/>
              </a:defRPr>
            </a:pPr>
            <a:r>
              <a:rPr sz="1700" b="0">
                <a:solidFill>
                  <a:srgbClr val="173126"/>
                </a:solidFill>
                <a:latin typeface="Aptos"/>
                <a:ea typeface="Aptos"/>
                <a:cs typeface="Aptos"/>
              </a:rPr>
              <a:t>03 Cut: Remove material with controlled strokes on the waste side.</a:t>
            </a:r>
          </a:p>
        </p:txBody>
      </p:sp>
      <p:sp>
        <p:nvSpPr>
          <p:cNvPr id="6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FE168D81-EECA-43E5-9713-503F4E144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24375"/>
            <a:ext cx="4905375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6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EVIDENCE Save a labelled note, check or photograph that proves your decision.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8C4A68-BD86-4905-B468-0E0196E26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5750"/>
            <a:ext cx="2476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7783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00" b="1">
                <a:solidFill>
                  <a:srgbClr val="D8941C"/>
                </a:solidFill>
                <a:latin typeface="Aptos"/>
                <a:ea typeface="Aptos"/>
                <a:cs typeface="Aptos"/>
              </a:defRPr>
            </a:pPr>
            <a:r>
              <a:rPr sz="1300" b="1">
                <a:solidFill>
                  <a:srgbClr val="D8941C"/>
                </a:solidFill>
                <a:latin typeface="Aptos"/>
                <a:ea typeface="Aptos"/>
                <a:cs typeface="Aptos"/>
              </a:rPr>
              <a:t>THEORY 1 OF 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A61161-3DFE-41DB-9675-E19E1DB70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552450"/>
            <a:ext cx="5619750" cy="5524500"/>
          </a:xfrm>
          <a:prstGeom xmlns:a="http://schemas.openxmlformats.org/drawingml/2006/main" prst="roundRect">
            <a:avLst>
              <a:gd name="adj" fmla="val 2069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941C"/>
            </a:solidFill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872225e8a24a3d"/>
          <a:srcRect xmlns:a="http://schemas.openxmlformats.org/drawingml/2006/main" l="0" t="12366" r="0" b="1236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00775" y="704850"/>
            <a:ext cx="5314950" cy="4000500"/>
          </a:xfrm>
          <a:prstGeom xmlns:a="http://schemas.openxmlformats.org/drawingml/2006/main" prst="roundRect">
            <a:avLst>
              <a:gd name="adj" fmla="val 2857"/>
            </a:avLst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D7E66A-9306-4952-A31C-7C4249035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810125"/>
            <a:ext cx="51625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00" b="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600" b="0">
                <a:solidFill>
                  <a:srgbClr val="5A665F"/>
                </a:solidFill>
                <a:latin typeface="Aptos"/>
                <a:ea typeface="Aptos"/>
                <a:cs typeface="Aptos"/>
              </a:rPr>
              <a:t>Secure the work and cut on the waste side of the line.</a:t>
            </a:r>
          </a:p>
        </p:txBody>
      </p:sp>
    </p:spTree>
    <p:extLst>
      <p:ext uri="{BB962C8B-B14F-4D97-AF65-F5344CB8AC3E}">
        <p14:creationId xmlns:p14="http://schemas.microsoft.com/office/powerpoint/2010/main" val="122784233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C043931D-9F2F-4BDF-96A4-4535B6C96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960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38100" rIns="38100" bIns="38100" anchor="ctr">
            <a:normAutofit fontScale="6493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1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42783CD8-3D0C-4954-B76F-BC9C7FFF0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3400"/>
            <a:ext cx="5191125" cy="1504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500" b="1">
                <a:solidFill>
                  <a:srgbClr val="173126"/>
                </a:solidFill>
                <a:latin typeface="Aptos"/>
                <a:ea typeface="Aptos"/>
                <a:cs typeface="Aptos"/>
              </a:defRPr>
            </a:pPr>
            <a:r>
              <a:rPr sz="3500" b="1">
                <a:solidFill>
                  <a:srgbClr val="173126"/>
                </a:solidFill>
                <a:latin typeface="Aptos"/>
                <a:ea typeface="Aptos"/>
                <a:cs typeface="Aptos"/>
              </a:rPr>
              <a:t>Butt, rebate and dowel joints in a Desk Tidy</a:t>
            </a:r>
          </a:p>
        </p:txBody>
      </p:sp>
      <p:cxnSp>
        <p:nvCxnSpPr>
          <p:cNvPr id="25" name="Google-Shape-2259-p159-4"/>
          <p:cNvCxnSpPr/>
          <p:nvPr/>
        </p:nvCxn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straightConnector1">
            <a:avLst/>
          </a:prstGeom>
          <a:ln xmlns:a="http://schemas.openxmlformats.org/drawingml/2006/main" w="0">
            <a:noFill/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DF8E6CD1-9170-4C92-92D7-6BC6CA4BD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2697475C-2D7C-4C57-BEBA-A2ABF3D7B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90D34AC1-8983-4022-9C90-6CA4F0CB7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15CAE694-4FF0-4E53-B454-244A69496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09800"/>
            <a:ext cx="495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D8941C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D8941C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454860B0-96C7-4294-8A2C-FF93A2E16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09925"/>
            <a:ext cx="495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D8941C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D8941C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F5719210-C236-4F39-AA6A-2394F1D14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10050"/>
            <a:ext cx="495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>
                <a:solidFill>
                  <a:srgbClr val="D8941C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D8941C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1B320EBC-7CBF-4370-9AF6-13F5C41FC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114550"/>
            <a:ext cx="4429125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38100" rIns="38100" bIns="38100" anchor="ctr">
            <a:normAutofit fontScale="9894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00" b="0">
                <a:solidFill>
                  <a:srgbClr val="173126"/>
                </a:solidFill>
                <a:latin typeface="Aptos"/>
                <a:ea typeface="Aptos"/>
                <a:cs typeface="Aptos"/>
              </a:defRPr>
            </a:pPr>
            <a:r>
              <a:rPr sz="1700" b="0">
                <a:solidFill>
                  <a:srgbClr val="173126"/>
                </a:solidFill>
                <a:latin typeface="Aptos"/>
                <a:ea typeface="Aptos"/>
                <a:cs typeface="Aptos"/>
              </a:rPr>
              <a:t>A joint should suit the parts being connected, the required accuracy and the approved design.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E1C89AE1-8437-4EB9-9406-840A6801C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114675"/>
            <a:ext cx="4429125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00" b="0">
                <a:solidFill>
                  <a:srgbClr val="173126"/>
                </a:solidFill>
                <a:latin typeface="Aptos"/>
                <a:ea typeface="Aptos"/>
                <a:cs typeface="Aptos"/>
              </a:defRPr>
            </a:pPr>
            <a:r>
              <a:rPr sz="1700" b="0">
                <a:solidFill>
                  <a:srgbClr val="173126"/>
                </a:solidFill>
                <a:latin typeface="Aptos"/>
                <a:ea typeface="Aptos"/>
                <a:cs typeface="Aptos"/>
              </a:rPr>
              <a:t>A joint connects two or more components so they work as one structure.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C3FB28D8-5682-488E-B886-51E3BB337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114800"/>
            <a:ext cx="4429125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00" b="0">
                <a:solidFill>
                  <a:srgbClr val="173126"/>
                </a:solidFill>
                <a:latin typeface="Aptos"/>
                <a:ea typeface="Aptos"/>
                <a:cs typeface="Aptos"/>
              </a:defRPr>
            </a:pPr>
            <a:r>
              <a:rPr sz="1700" b="0">
                <a:solidFill>
                  <a:srgbClr val="173126"/>
                </a:solidFill>
                <a:latin typeface="Aptos"/>
                <a:ea typeface="Aptos"/>
                <a:cs typeface="Aptos"/>
              </a:rPr>
              <a:t>A butt joint places the end or edge of one component directly against another.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ABB58A-6BF5-442F-AB5B-6515CB662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5750"/>
            <a:ext cx="2476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7783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00" b="1">
                <a:solidFill>
                  <a:srgbClr val="D8941C"/>
                </a:solidFill>
                <a:latin typeface="Aptos"/>
                <a:ea typeface="Aptos"/>
                <a:cs typeface="Aptos"/>
              </a:defRPr>
            </a:pPr>
            <a:r>
              <a:rPr sz="1300" b="1">
                <a:solidFill>
                  <a:srgbClr val="D8941C"/>
                </a:solidFill>
                <a:latin typeface="Aptos"/>
                <a:ea typeface="Aptos"/>
                <a:cs typeface="Aptos"/>
              </a:rPr>
              <a:t>THEORY 2 OF 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7DEF809-1A0D-4B2F-8A7D-139FC022E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552450"/>
            <a:ext cx="5619750" cy="5524500"/>
          </a:xfrm>
          <a:prstGeom xmlns:a="http://schemas.openxmlformats.org/drawingml/2006/main" prst="roundRect">
            <a:avLst>
              <a:gd name="adj" fmla="val 2069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941C"/>
            </a:solidFill>
            <a:prstDash val="solid"/>
          </a:ln>
        </p:spPr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55145e4f394a23"/>
          <a:srcRect xmlns:a="http://schemas.openxmlformats.org/drawingml/2006/main" l="14737" t="0" r="1473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00775" y="704850"/>
            <a:ext cx="5314950" cy="4000500"/>
          </a:xfrm>
          <a:prstGeom xmlns:a="http://schemas.openxmlformats.org/drawingml/2006/main" prst="roundRect">
            <a:avLst>
              <a:gd name="adj" fmla="val 2857"/>
            </a:avLst>
          </a:prstGeom>
        </p:spPr>
      </p:pic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BAE2023-2A68-4824-880C-A875CB83C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810125"/>
            <a:ext cx="51625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00" b="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600" b="0">
                <a:solidFill>
                  <a:srgbClr val="5A665F"/>
                </a:solidFill>
                <a:latin typeface="Aptos"/>
                <a:ea typeface="Aptos"/>
                <a:cs typeface="Aptos"/>
              </a:rPr>
              <a:t>Select a joint for its purpose, then test the fit before assembly.</a:t>
            </a:r>
          </a:p>
        </p:txBody>
      </p:sp>
    </p:spTree>
    <p:extLst>
      <p:ext uri="{BB962C8B-B14F-4D97-AF65-F5344CB8AC3E}">
        <p14:creationId xmlns:p14="http://schemas.microsoft.com/office/powerpoint/2010/main" val="110693921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Number-Placeholder-1-2">
            <a:extLst xmlns:a="http://schemas.openxmlformats.org/drawingml/2006/main">
              <a:ext uri="{FF2B5EF4-FFF2-40B4-BE49-F238E27FC236}">
                <a16:creationId xmlns:a16="http://schemas.microsoft.com/office/drawing/2014/main" id="{D94C18BF-A3F7-48DF-95C5-5322BCA9A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960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38100" rIns="38100" bIns="38100" anchor="ctr">
            <a:normAutofit fontScale="6493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1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" name="Title-2-3">
            <a:extLst xmlns:a="http://schemas.openxmlformats.org/drawingml/2006/main">
              <a:ext uri="{FF2B5EF4-FFF2-40B4-BE49-F238E27FC236}">
                <a16:creationId xmlns:a16="http://schemas.microsoft.com/office/drawing/2014/main" id="{C33417E2-380F-4649-B4A4-C221E13C3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3400"/>
            <a:ext cx="5191125" cy="1504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500" b="1">
                <a:solidFill>
                  <a:srgbClr val="173126"/>
                </a:solidFill>
                <a:latin typeface="Aptos"/>
                <a:ea typeface="Aptos"/>
                <a:cs typeface="Aptos"/>
              </a:defRPr>
            </a:pPr>
            <a:r>
              <a:rPr sz="3500" b="1">
                <a:solidFill>
                  <a:srgbClr val="173126"/>
                </a:solidFill>
                <a:latin typeface="Aptos"/>
                <a:ea typeface="Aptos"/>
                <a:cs typeface="Aptos"/>
              </a:rPr>
              <a:t>Dry fitting, PVA assembly and surface preparation</a:t>
            </a:r>
          </a:p>
        </p:txBody>
      </p:sp>
      <p:sp>
        <p:nvSpPr>
          <p:cNvPr id="3" name="Content-Placeholder-9-4">
            <a:extLst xmlns:a="http://schemas.openxmlformats.org/drawingml/2006/main">
              <a:ext uri="{FF2B5EF4-FFF2-40B4-BE49-F238E27FC236}">
                <a16:creationId xmlns:a16="http://schemas.microsoft.com/office/drawing/2014/main" id="{66491A37-7B99-4D5A-9A7B-6B5D2FA36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4905375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00" b="0">
                <a:solidFill>
                  <a:srgbClr val="173126"/>
                </a:solidFill>
                <a:latin typeface="Aptos"/>
                <a:ea typeface="Aptos"/>
                <a:cs typeface="Aptos"/>
              </a:defRPr>
            </a:pPr>
            <a:r>
              <a:rPr sz="1700" b="0">
                <a:solidFill>
                  <a:srgbClr val="173126"/>
                </a:solidFill>
                <a:latin typeface="Aptos"/>
                <a:ea typeface="Aptos"/>
                <a:cs typeface="Aptos"/>
              </a:rPr>
              <a:t>01 Dry fit: Assemble all parts and check order, fit, square and stability.</a:t>
            </a:r>
          </a:p>
        </p:txBody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8947A3C1-ADA5-4D6C-B0DE-7A818C91A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05125"/>
            <a:ext cx="4905375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00" b="0">
                <a:solidFill>
                  <a:srgbClr val="173126"/>
                </a:solidFill>
                <a:latin typeface="Aptos"/>
                <a:ea typeface="Aptos"/>
                <a:cs typeface="Aptos"/>
              </a:defRPr>
            </a:pPr>
            <a:r>
              <a:rPr sz="1700" b="0">
                <a:solidFill>
                  <a:srgbClr val="173126"/>
                </a:solidFill>
                <a:latin typeface="Aptos"/>
                <a:ea typeface="Aptos"/>
                <a:cs typeface="Aptos"/>
              </a:rPr>
              <a:t>02 Approve: Resolve faults and gain teacher approval.</a:t>
            </a:r>
          </a:p>
        </p:txBody>
      </p:sp>
      <p:sp>
        <p:nvSpPr>
          <p:cNvPr id="5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5AC9B470-0786-49DD-ADE4-53F6DDDFE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4905375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00" b="0">
                <a:solidFill>
                  <a:srgbClr val="173126"/>
                </a:solidFill>
                <a:latin typeface="Aptos"/>
                <a:ea typeface="Aptos"/>
                <a:cs typeface="Aptos"/>
              </a:defRPr>
            </a:pPr>
            <a:r>
              <a:rPr sz="1700" b="0">
                <a:solidFill>
                  <a:srgbClr val="173126"/>
                </a:solidFill>
                <a:latin typeface="Aptos"/>
                <a:ea typeface="Aptos"/>
                <a:cs typeface="Aptos"/>
              </a:rPr>
              <a:t>03 Assemble: Apply PVA and clamp using demonstrated methods.</a:t>
            </a:r>
          </a:p>
        </p:txBody>
      </p:sp>
      <p:sp>
        <p:nvSpPr>
          <p:cNvPr id="6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9EFDF80B-84C2-4E73-960E-165CE6DF8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24375"/>
            <a:ext cx="4905375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6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EVIDENCE Save a labelled note, check or photograph that proves your decision.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7EBA5E-309A-4FE6-AD6A-463E87934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5750"/>
            <a:ext cx="2476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7783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00" b="1">
                <a:solidFill>
                  <a:srgbClr val="D8941C"/>
                </a:solidFill>
                <a:latin typeface="Aptos"/>
                <a:ea typeface="Aptos"/>
                <a:cs typeface="Aptos"/>
              </a:defRPr>
            </a:pPr>
            <a:r>
              <a:rPr sz="1300" b="1">
                <a:solidFill>
                  <a:srgbClr val="D8941C"/>
                </a:solidFill>
                <a:latin typeface="Aptos"/>
                <a:ea typeface="Aptos"/>
                <a:cs typeface="Aptos"/>
              </a:rPr>
              <a:t>THEORY 3 OF 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8F789E-1364-42E2-881D-06E116C4C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552450"/>
            <a:ext cx="5619750" cy="5524500"/>
          </a:xfrm>
          <a:prstGeom xmlns:a="http://schemas.openxmlformats.org/drawingml/2006/main" prst="roundRect">
            <a:avLst>
              <a:gd name="adj" fmla="val 2069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941C"/>
            </a:solidFill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07392d53304222"/>
          <a:srcRect xmlns:a="http://schemas.openxmlformats.org/drawingml/2006/main" l="3366" t="0" r="3366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00775" y="704850"/>
            <a:ext cx="5314950" cy="4000500"/>
          </a:xfrm>
          <a:prstGeom xmlns:a="http://schemas.openxmlformats.org/drawingml/2006/main" prst="roundRect">
            <a:avLst>
              <a:gd name="adj" fmla="val 2857"/>
            </a:avLst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96C6B0-5F17-42EB-A00D-CC9DE946F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810125"/>
            <a:ext cx="51625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00" b="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600" b="0">
                <a:solidFill>
                  <a:srgbClr val="5A665F"/>
                </a:solidFill>
                <a:latin typeface="Aptos"/>
                <a:ea typeface="Aptos"/>
                <a:cs typeface="Aptos"/>
              </a:rPr>
              <a:t>Dry fitting finds problems before adhesive makes them permanent.</a:t>
            </a:r>
          </a:p>
        </p:txBody>
      </p:sp>
    </p:spTree>
    <p:extLst>
      <p:ext uri="{BB962C8B-B14F-4D97-AF65-F5344CB8AC3E}">
        <p14:creationId xmlns:p14="http://schemas.microsoft.com/office/powerpoint/2010/main" val="30484715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825A06F4-E29E-49C8-B3CE-131F15BFD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960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38100" rIns="38100" bIns="38100" anchor="ctr">
            <a:normAutofit fontScale="6493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1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092CEC7D-064D-43E5-A36A-E5EAAE4C6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3400"/>
            <a:ext cx="102870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600" b="1">
                <a:solidFill>
                  <a:srgbClr val="173126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73126"/>
                </a:solidFill>
                <a:latin typeface="Aptos"/>
                <a:ea typeface="Aptos"/>
                <a:cs typeface="Aptos"/>
              </a:rPr>
              <a:t>Pause and check what you can explain</a:t>
            </a:r>
          </a:p>
        </p:txBody>
      </p:sp>
      <p:cxnSp>
        <p:nvCxnSpPr>
          <p:cNvPr id="25" name="Google-Shape-2259-p159-4"/>
          <p:cNvCxnSpPr/>
          <p:nvPr/>
        </p:nvCxn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straightConnector1">
            <a:avLst/>
          </a:prstGeom>
          <a:ln xmlns:a="http://schemas.openxmlformats.org/drawingml/2006/main" w="0">
            <a:noFill/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7B534680-B7F3-4E12-B466-9DAA783C8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A5CF19EE-44DE-4940-BD4D-AC6D220B4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E30E1E8D-24DC-4005-AEB8-CA9034226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537B28CF-E526-49D2-8C85-D0E7DDEB0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66950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000" b="1">
                <a:solidFill>
                  <a:srgbClr val="D8941C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D8941C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B1B1D021-C9EA-4D79-86A4-5FEB65AAE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266950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000" b="1">
                <a:solidFill>
                  <a:srgbClr val="D8941C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D8941C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6C826225-1403-4814-BA59-40C25AFBB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266950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000" b="1">
                <a:solidFill>
                  <a:srgbClr val="D8941C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D8941C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ECAD4C09-8FD5-4A85-8CF5-ACDB053B9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14650"/>
            <a:ext cx="2667000" cy="1619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38100" rIns="38100" bIns="38100" anchor="t">
            <a:normAutofit fontScale="891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00" b="0">
                <a:solidFill>
                  <a:srgbClr val="173126"/>
                </a:solidFill>
                <a:latin typeface="Aptos"/>
                <a:ea typeface="Aptos"/>
                <a:cs typeface="Aptos"/>
              </a:defRPr>
            </a:pPr>
            <a:r>
              <a:rPr sz="1600" b="0">
                <a:solidFill>
                  <a:srgbClr val="173126"/>
                </a:solidFill>
                <a:latin typeface="Aptos"/>
                <a:ea typeface="Aptos"/>
                <a:cs typeface="Aptos"/>
              </a:rPr>
              <a:t>What is the key idea in “Cutting and shaping components accurately”?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/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600" b="0">
                <a:solidFill>
                  <a:srgbClr val="173126"/>
                </a:solidFill>
                <a:latin typeface="Aptos"/>
                <a:ea typeface="Aptos"/>
                <a:cs typeface="Aptos"/>
              </a:defRPr>
            </a:pPr>
            <a:r>
              <a:rPr sz="1600" b="0">
                <a:solidFill>
                  <a:srgbClr val="173126"/>
                </a:solidFill>
                <a:latin typeface="Aptos"/>
                <a:ea typeface="Aptos"/>
                <a:cs typeface="Aptos"/>
              </a:rPr>
              <a:t>What evidence would show that you understood it?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CCFEE5A5-3CFE-48A5-B633-AC3EBC14E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914650"/>
            <a:ext cx="2667000" cy="1619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38100" rIns="38100" bIns="38100" anchor="t">
            <a:normAutofit fontScale="891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00" b="0">
                <a:solidFill>
                  <a:srgbClr val="173126"/>
                </a:solidFill>
                <a:latin typeface="Aptos"/>
                <a:ea typeface="Aptos"/>
                <a:cs typeface="Aptos"/>
              </a:defRPr>
            </a:pPr>
            <a:r>
              <a:rPr sz="1600" b="0">
                <a:solidFill>
                  <a:srgbClr val="173126"/>
                </a:solidFill>
                <a:latin typeface="Aptos"/>
                <a:ea typeface="Aptos"/>
                <a:cs typeface="Aptos"/>
              </a:rPr>
              <a:t>What is the key idea in “Butt, rebate and dowel joints in a Desk Tidy”?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/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600" b="0">
                <a:solidFill>
                  <a:srgbClr val="173126"/>
                </a:solidFill>
                <a:latin typeface="Aptos"/>
                <a:ea typeface="Aptos"/>
                <a:cs typeface="Aptos"/>
              </a:defRPr>
            </a:pPr>
            <a:r>
              <a:rPr sz="1600" b="0">
                <a:solidFill>
                  <a:srgbClr val="173126"/>
                </a:solidFill>
                <a:latin typeface="Aptos"/>
                <a:ea typeface="Aptos"/>
                <a:cs typeface="Aptos"/>
              </a:rPr>
              <a:t>What evidence would show that you understood it?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90188185-69FD-49DF-AAE1-B10C7F928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914650"/>
            <a:ext cx="2667000" cy="1619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38100" rIns="38100" bIns="38100" anchor="t">
            <a:normAutofit fontScale="8912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00" b="0">
                <a:solidFill>
                  <a:srgbClr val="173126"/>
                </a:solidFill>
                <a:latin typeface="Aptos"/>
                <a:ea typeface="Aptos"/>
                <a:cs typeface="Aptos"/>
              </a:defRPr>
            </a:pPr>
            <a:r>
              <a:rPr sz="1600" b="0">
                <a:solidFill>
                  <a:srgbClr val="173126"/>
                </a:solidFill>
                <a:latin typeface="Aptos"/>
                <a:ea typeface="Aptos"/>
                <a:cs typeface="Aptos"/>
              </a:rPr>
              <a:t>What is the key idea in “Dry fitting, PVA assembly and surface preparation”?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/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600" b="0">
                <a:solidFill>
                  <a:srgbClr val="173126"/>
                </a:solidFill>
                <a:latin typeface="Aptos"/>
                <a:ea typeface="Aptos"/>
                <a:cs typeface="Aptos"/>
              </a:defRPr>
            </a:pPr>
            <a:r>
              <a:rPr sz="1600" b="0">
                <a:solidFill>
                  <a:srgbClr val="173126"/>
                </a:solidFill>
                <a:latin typeface="Aptos"/>
                <a:ea typeface="Aptos"/>
                <a:cs typeface="Aptos"/>
              </a:rPr>
              <a:t>What evidence would show that you understood it?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F50751-8E75-489A-A1C9-2F0F73AA0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838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000" b="0">
                <a:solidFill>
                  <a:srgbClr val="5A665F"/>
                </a:solidFill>
                <a:latin typeface="Aptos"/>
                <a:ea typeface="Aptos"/>
                <a:cs typeface="Aptos"/>
              </a:rPr>
              <a:t>Answer aloud or jot one clear sentence for each question.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2A21608-F9DD-4B2A-8DF5-1BCE0F5A9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057400"/>
            <a:ext cx="3238500" cy="2781300"/>
          </a:xfrm>
          <a:prstGeom xmlns:a="http://schemas.openxmlformats.org/drawingml/2006/main" prst="roundRect">
            <a:avLst>
              <a:gd name="adj" fmla="val 411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AD2A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192CD6-BC01-4755-8686-128680E61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057400"/>
            <a:ext cx="3238500" cy="2781300"/>
          </a:xfrm>
          <a:prstGeom xmlns:a="http://schemas.openxmlformats.org/drawingml/2006/main" prst="roundRect">
            <a:avLst>
              <a:gd name="adj" fmla="val 411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941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82C9FC-91D8-4C5C-9181-4D14510DA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057400"/>
            <a:ext cx="3238500" cy="2781300"/>
          </a:xfrm>
          <a:prstGeom xmlns:a="http://schemas.openxmlformats.org/drawingml/2006/main" prst="roundRect">
            <a:avLst>
              <a:gd name="adj" fmla="val 411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AD2AE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40670223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Number-Placeholder-1-2">
            <a:extLst xmlns:a="http://schemas.openxmlformats.org/drawingml/2006/main">
              <a:ext uri="{FF2B5EF4-FFF2-40B4-BE49-F238E27FC236}">
                <a16:creationId xmlns:a16="http://schemas.microsoft.com/office/drawing/2014/main" id="{29FADFF7-CB7B-44A0-B1E3-9B1D7EB45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960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38100" rIns="38100" bIns="38100" anchor="ctr">
            <a:normAutofit fontScale="6493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1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2" name="Title-2-3">
            <a:extLst xmlns:a="http://schemas.openxmlformats.org/drawingml/2006/main">
              <a:ext uri="{FF2B5EF4-FFF2-40B4-BE49-F238E27FC236}">
                <a16:creationId xmlns:a16="http://schemas.microsoft.com/office/drawing/2014/main" id="{25E4275D-FFEB-4DAC-B096-866C4EF9C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4350"/>
            <a:ext cx="102870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600" b="1">
                <a:solidFill>
                  <a:srgbClr val="173126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73126"/>
                </a:solidFill>
                <a:latin typeface="Aptos"/>
                <a:ea typeface="Aptos"/>
                <a:cs typeface="Aptos"/>
              </a:rPr>
              <a:t>Build a response that shows your thinking</a:t>
            </a:r>
          </a:p>
        </p:txBody>
      </p:sp>
      <p:sp>
        <p:nvSpPr>
          <p:cNvPr id="3" name="Content-Placeholder-9-4">
            <a:extLst xmlns:a="http://schemas.openxmlformats.org/drawingml/2006/main">
              <a:ext uri="{FF2B5EF4-FFF2-40B4-BE49-F238E27FC236}">
                <a16:creationId xmlns:a16="http://schemas.microsoft.com/office/drawing/2014/main" id="{CE177322-2C20-46DF-B4E2-EC73DD697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81250"/>
            <a:ext cx="2095500" cy="160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00" b="0">
                <a:solidFill>
                  <a:srgbClr val="173126"/>
                </a:solidFill>
                <a:latin typeface="Aptos"/>
                <a:ea typeface="Aptos"/>
                <a:cs typeface="Aptos"/>
              </a:defRPr>
            </a:pPr>
            <a:r>
              <a:rPr sz="2000" b="0">
                <a:solidFill>
                  <a:srgbClr val="173126"/>
                </a:solidFill>
                <a:latin typeface="Aptos"/>
                <a:ea typeface="Aptos"/>
                <a:cs typeface="Aptos"/>
              </a:rPr>
              <a:t>READ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000" b="0">
                <a:solidFill>
                  <a:srgbClr val="173126"/>
                </a:solidFill>
                <a:latin typeface="Aptos"/>
                <a:ea typeface="Aptos"/>
                <a:cs typeface="Aptos"/>
              </a:defRPr>
            </a:pPr>
            <a:r>
              <a:rPr sz="2000" b="0">
                <a:solidFill>
                  <a:srgbClr val="173126"/>
                </a:solidFill>
                <a:latin typeface="Aptos"/>
                <a:ea typeface="Aptos"/>
                <a:cs typeface="Aptos"/>
              </a:rPr>
              <a:t>What is the question asking?</a:t>
            </a:r>
          </a:p>
        </p:txBody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410F9B10-B7A5-4D13-813F-01F570DD2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2381250"/>
            <a:ext cx="2095500" cy="160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00" b="0">
                <a:solidFill>
                  <a:srgbClr val="173126"/>
                </a:solidFill>
                <a:latin typeface="Aptos"/>
                <a:ea typeface="Aptos"/>
                <a:cs typeface="Aptos"/>
              </a:defRPr>
            </a:pPr>
            <a:r>
              <a:rPr sz="2000" b="0">
                <a:solidFill>
                  <a:srgbClr val="173126"/>
                </a:solidFill>
                <a:latin typeface="Aptos"/>
                <a:ea typeface="Aptos"/>
                <a:cs typeface="Aptos"/>
              </a:rPr>
              <a:t>SELECT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000" b="0">
                <a:solidFill>
                  <a:srgbClr val="173126"/>
                </a:solidFill>
                <a:latin typeface="Aptos"/>
                <a:ea typeface="Aptos"/>
                <a:cs typeface="Aptos"/>
              </a:defRPr>
            </a:pPr>
            <a:r>
              <a:rPr sz="2000" b="0">
                <a:solidFill>
                  <a:srgbClr val="173126"/>
                </a:solidFill>
                <a:latin typeface="Aptos"/>
                <a:ea typeface="Aptos"/>
                <a:cs typeface="Aptos"/>
              </a:rPr>
              <a:t>Return to the precise theory.</a:t>
            </a:r>
          </a:p>
        </p:txBody>
      </p:sp>
      <p:sp>
        <p:nvSpPr>
          <p:cNvPr id="5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12F1579E-CA94-4674-9BF9-435DF2AE9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81250"/>
            <a:ext cx="2095500" cy="160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00" b="0">
                <a:solidFill>
                  <a:srgbClr val="173126"/>
                </a:solidFill>
                <a:latin typeface="Aptos"/>
                <a:ea typeface="Aptos"/>
                <a:cs typeface="Aptos"/>
              </a:defRPr>
            </a:pPr>
            <a:r>
              <a:rPr sz="2000" b="0">
                <a:solidFill>
                  <a:srgbClr val="173126"/>
                </a:solidFill>
                <a:latin typeface="Aptos"/>
                <a:ea typeface="Aptos"/>
                <a:cs typeface="Aptos"/>
              </a:rPr>
              <a:t>EXPLAIN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000" b="0">
                <a:solidFill>
                  <a:srgbClr val="173126"/>
                </a:solidFill>
                <a:latin typeface="Aptos"/>
                <a:ea typeface="Aptos"/>
                <a:cs typeface="Aptos"/>
              </a:defRPr>
            </a:pPr>
            <a:r>
              <a:rPr sz="2000" b="0">
                <a:solidFill>
                  <a:srgbClr val="173126"/>
                </a:solidFill>
                <a:latin typeface="Aptos"/>
                <a:ea typeface="Aptos"/>
                <a:cs typeface="Aptos"/>
              </a:rPr>
              <a:t>Connect the idea to your evidence.</a:t>
            </a:r>
          </a:p>
        </p:txBody>
      </p:sp>
      <p:sp>
        <p:nvSpPr>
          <p:cNvPr id="6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597B7E8E-A2FF-4094-8234-ECC11AC2C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2381250"/>
            <a:ext cx="2095500" cy="160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00" b="0">
                <a:solidFill>
                  <a:srgbClr val="173126"/>
                </a:solidFill>
                <a:latin typeface="Aptos"/>
                <a:ea typeface="Aptos"/>
                <a:cs typeface="Aptos"/>
              </a:defRPr>
            </a:pPr>
            <a:r>
              <a:rPr sz="2000" b="0">
                <a:solidFill>
                  <a:srgbClr val="173126"/>
                </a:solidFill>
                <a:latin typeface="Aptos"/>
                <a:ea typeface="Aptos"/>
                <a:cs typeface="Aptos"/>
              </a:rPr>
              <a:t>CHECK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000" b="0">
                <a:solidFill>
                  <a:srgbClr val="173126"/>
                </a:solidFill>
                <a:latin typeface="Aptos"/>
                <a:ea typeface="Aptos"/>
                <a:cs typeface="Aptos"/>
              </a:defRPr>
            </a:pPr>
            <a:r>
              <a:rPr sz="2000" b="0">
                <a:solidFill>
                  <a:srgbClr val="173126"/>
                </a:solidFill>
                <a:latin typeface="Aptos"/>
                <a:ea typeface="Aptos"/>
                <a:cs typeface="Aptos"/>
              </a:rPr>
              <a:t>Answer every part in your own words.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2AFDCB-D0F2-46E8-A2C5-A82FAD2E6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19200"/>
            <a:ext cx="1000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00" b="0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2000" b="0">
                <a:solidFill>
                  <a:srgbClr val="5A665F"/>
                </a:solidFill>
                <a:latin typeface="Aptos"/>
                <a:ea typeface="Aptos"/>
                <a:cs typeface="Aptos"/>
              </a:rPr>
              <a:t>Prompt: Explain one decision from this module and justify it with evidence.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2B86C7-8996-4653-8266-4D2E0AB2E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114550"/>
            <a:ext cx="2619375" cy="2381250"/>
          </a:xfrm>
          <a:prstGeom xmlns:a="http://schemas.openxmlformats.org/drawingml/2006/main" prst="roundRect">
            <a:avLst>
              <a:gd name="adj" fmla="val 48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AD2A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AAC949-5615-4D22-BF4B-899C2BC92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2114550"/>
            <a:ext cx="2619375" cy="2381250"/>
          </a:xfrm>
          <a:prstGeom xmlns:a="http://schemas.openxmlformats.org/drawingml/2006/main" prst="roundRect">
            <a:avLst>
              <a:gd name="adj" fmla="val 48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AD2A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FF3D77-2007-4DE7-8015-51AFE93FC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114550"/>
            <a:ext cx="2619375" cy="2381250"/>
          </a:xfrm>
          <a:prstGeom xmlns:a="http://schemas.openxmlformats.org/drawingml/2006/main" prst="roundRect">
            <a:avLst>
              <a:gd name="adj" fmla="val 48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941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349BD4-1445-4C0A-A24E-F5AF3F500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2114550"/>
            <a:ext cx="2619375" cy="2381250"/>
          </a:xfrm>
          <a:prstGeom xmlns:a="http://schemas.openxmlformats.org/drawingml/2006/main" prst="roundRect">
            <a:avLst>
              <a:gd name="adj" fmla="val 48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AD2A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FEC007-2C89-493A-A5E9-ABED9A22F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2050"/>
            <a:ext cx="1047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00" b="1">
                <a:solidFill>
                  <a:srgbClr val="5A665F"/>
                </a:solidFill>
                <a:latin typeface="Aptos"/>
                <a:ea typeface="Aptos"/>
                <a:cs typeface="Aptos"/>
              </a:defRPr>
            </a:pPr>
            <a:r>
              <a:rPr sz="1700" b="1">
                <a:solidFill>
                  <a:srgbClr val="5A665F"/>
                </a:solidFill>
                <a:latin typeface="Aptos"/>
                <a:ea typeface="Aptos"/>
                <a:cs typeface="Aptos"/>
              </a:rPr>
              <a:t>Sentence starter: I chose … because … The evidence I will save is …</a:t>
            </a:r>
          </a:p>
        </p:txBody>
      </p:sp>
    </p:spTree>
    <p:extLst>
      <p:ext uri="{BB962C8B-B14F-4D97-AF65-F5344CB8AC3E}">
        <p14:creationId xmlns:p14="http://schemas.microsoft.com/office/powerpoint/2010/main" val="96600074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2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4FB65A6E-5CCA-4690-9F8C-FAEAC5D7B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52550"/>
            <a:ext cx="581025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38100" rIns="38100" bIns="38100" anchor="t">
            <a:normAutofit fontScale="94145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4200" b="1">
                <a:solidFill>
                  <a:srgbClr val="173126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173126"/>
                </a:solidFill>
                <a:latin typeface="Aptos"/>
                <a:ea typeface="Aptos"/>
                <a:cs typeface="Aptos"/>
              </a:rPr>
              <a:t>Exit ticket: prove what you learned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33778D86-9AA8-4F9C-9A11-A6529DD4F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48000"/>
            <a:ext cx="5429250" cy="2095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200" b="0">
                <a:solidFill>
                  <a:srgbClr val="173126"/>
                </a:solidFill>
                <a:latin typeface="Aptos"/>
                <a:ea typeface="Aptos"/>
                <a:cs typeface="Aptos"/>
              </a:defRPr>
            </a:pPr>
            <a:r>
              <a:rPr sz="2200" b="0">
                <a:solidFill>
                  <a:srgbClr val="173126"/>
                </a:solidFill>
                <a:latin typeface="Aptos"/>
                <a:ea typeface="Aptos"/>
                <a:cs typeface="Aptos"/>
              </a:rPr>
              <a:t>1. Name one decision you can now justify.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/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2200" b="0">
                <a:solidFill>
                  <a:srgbClr val="173126"/>
                </a:solidFill>
                <a:latin typeface="Aptos"/>
                <a:ea typeface="Aptos"/>
                <a:cs typeface="Aptos"/>
              </a:defRPr>
            </a:pPr>
            <a:r>
              <a:rPr sz="2200" b="0">
                <a:solidFill>
                  <a:srgbClr val="173126"/>
                </a:solidFill>
                <a:latin typeface="Aptos"/>
                <a:ea typeface="Aptos"/>
                <a:cs typeface="Aptos"/>
              </a:rPr>
              <a:t>2. Identify the evidence you will save.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/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2200" b="0">
                <a:solidFill>
                  <a:srgbClr val="173126"/>
                </a:solidFill>
                <a:latin typeface="Aptos"/>
                <a:ea typeface="Aptos"/>
                <a:cs typeface="Aptos"/>
              </a:defRPr>
            </a:pPr>
            <a:r>
              <a:rPr sz="2200" b="0">
                <a:solidFill>
                  <a:srgbClr val="173126"/>
                </a:solidFill>
                <a:latin typeface="Aptos"/>
                <a:ea typeface="Aptos"/>
                <a:cs typeface="Aptos"/>
              </a:rPr>
              <a:t>3. State your next safe, accurate action.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B61D0F6B-2EFF-41BD-9319-CDE5B5628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19150"/>
            <a:ext cx="2857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38100" tIns="38100" rIns="38100" bIns="38100" anchor="t">
            <a:normAutofit fontScale="8503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00" b="1">
                <a:solidFill>
                  <a:srgbClr val="D8941C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D8941C"/>
                </a:solidFill>
                <a:latin typeface="Aptos"/>
                <a:ea typeface="Aptos"/>
                <a:cs typeface="Aptos"/>
              </a:rPr>
              <a:t>YOUR NEXT MOVE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2f0bfb64aa46b1"/>
          <a:srcRect xmlns:a="http://schemas.openxmlformats.org/drawingml/2006/main" l="11806" t="0" r="11806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953250" y="0"/>
            <a:ext cx="523875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630335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2026-08-12T04:50:00.7800000Z</dcterms:created>
  <dcterms:modified xsi:type="dcterms:W3CDTF">2026-08-12T04:50:00.7800000Z</dcterms:modified>
</coreProperties>
</file>