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2f181f75eff4cce" /><Relationship Type="http://schemas.openxmlformats.org/officeDocument/2006/relationships/extended-properties" Target="/docProps/app.xml" Id="R42298087f1a6427c" /><Relationship Type="http://schemas.openxmlformats.org/officeDocument/2006/relationships/officeDocument" Target="/ppt/presentation.xml" Id="R3249490dfbd4493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e42029fe71e417d"/>
  </p:sldMasterIdLst>
  <p:notesMasterIdLst>
    <p:notesMasterId xmlns:r="http://schemas.openxmlformats.org/officeDocument/2006/relationships" r:id="Ra6c2756d159149bb"/>
  </p:notesMasterIdLst>
  <p:sldIdLst>
    <p:sldId xmlns:r="http://schemas.openxmlformats.org/officeDocument/2006/relationships" id="256" r:id="R322bff447a0b4b34"/>
    <p:sldId xmlns:r="http://schemas.openxmlformats.org/officeDocument/2006/relationships" id="257" r:id="R15531bea8c5748f9"/>
    <p:sldId xmlns:r="http://schemas.openxmlformats.org/officeDocument/2006/relationships" id="258" r:id="R99aa42c2ae124a6a"/>
    <p:sldId xmlns:r="http://schemas.openxmlformats.org/officeDocument/2006/relationships" id="259" r:id="Rc03a01568c5845de"/>
    <p:sldId xmlns:r="http://schemas.openxmlformats.org/officeDocument/2006/relationships" id="260" r:id="R9feaf1d808ab4df7"/>
    <p:sldId xmlns:r="http://schemas.openxmlformats.org/officeDocument/2006/relationships" id="261" r:id="Rc79b4b8a51bf4d7d"/>
    <p:sldId xmlns:r="http://schemas.openxmlformats.org/officeDocument/2006/relationships" id="262" r:id="R31e483f94cd94a96"/>
    <p:sldId xmlns:r="http://schemas.openxmlformats.org/officeDocument/2006/relationships" id="263" r:id="Rb6b441f194c3403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fb54803883f4596" /><Relationship Type="http://schemas.openxmlformats.org/officeDocument/2006/relationships/slideMaster" Target="/ppt/slideMasters/slideMaster1.xml" Id="R1e42029fe71e417d" /><Relationship Type="http://schemas.openxmlformats.org/officeDocument/2006/relationships/notesMaster" Target="/ppt/notesMasters/notesMaster1.xml" Id="Ra6c2756d159149bb" /><Relationship Type="http://schemas.openxmlformats.org/officeDocument/2006/relationships/presProps" Target="/ppt/presProps.xml" Id="Rb7eb4f9cecd94cc6" /><Relationship Type="http://schemas.openxmlformats.org/officeDocument/2006/relationships/tableStyles" Target="/ppt/tableStyles.xml" Id="R87a7b5fa698e43e8" /><Relationship Type="http://schemas.openxmlformats.org/officeDocument/2006/relationships/slide" Target="/ppt/slides/slide1.xml" Id="R322bff447a0b4b34" /><Relationship Type="http://schemas.openxmlformats.org/officeDocument/2006/relationships/slide" Target="/ppt/slides/slide2.xml" Id="R15531bea8c5748f9" /><Relationship Type="http://schemas.openxmlformats.org/officeDocument/2006/relationships/slide" Target="/ppt/slides/slide3.xml" Id="R99aa42c2ae124a6a" /><Relationship Type="http://schemas.openxmlformats.org/officeDocument/2006/relationships/slide" Target="/ppt/slides/slide4.xml" Id="Rc03a01568c5845de" /><Relationship Type="http://schemas.openxmlformats.org/officeDocument/2006/relationships/slide" Target="/ppt/slides/slide5.xml" Id="R9feaf1d808ab4df7" /><Relationship Type="http://schemas.openxmlformats.org/officeDocument/2006/relationships/slide" Target="/ppt/slides/slide6.xml" Id="Rc79b4b8a51bf4d7d" /><Relationship Type="http://schemas.openxmlformats.org/officeDocument/2006/relationships/slide" Target="/ppt/slides/slide7.xml" Id="R31e483f94cd94a96" /><Relationship Type="http://schemas.openxmlformats.org/officeDocument/2006/relationships/slide" Target="/ppt/slides/slide8.xml" Id="Rb6b441f194c3403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d1bc7b4a88649e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173f24f5c024211" /><Relationship Type="http://schemas.openxmlformats.org/officeDocument/2006/relationships/notesMaster" Target="/ppt/notesMasters/notesMaster1.xml" Id="R3d0a0ef340aa421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a727799b00f49a5" /><Relationship Type="http://schemas.openxmlformats.org/officeDocument/2006/relationships/notesMaster" Target="/ppt/notesMasters/notesMaster1.xml" Id="R68cc6de9a79b45f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a967136953244a7" /><Relationship Type="http://schemas.openxmlformats.org/officeDocument/2006/relationships/notesMaster" Target="/ppt/notesMasters/notesMaster1.xml" Id="Ra43c28242b10427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11981f089074aa3" /><Relationship Type="http://schemas.openxmlformats.org/officeDocument/2006/relationships/notesMaster" Target="/ppt/notesMasters/notesMaster1.xml" Id="R3da87a4550ba47b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ef5a808417249c8" /><Relationship Type="http://schemas.openxmlformats.org/officeDocument/2006/relationships/notesMaster" Target="/ppt/notesMasters/notesMaster1.xml" Id="Ree8b5710677a407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8d1cf0632c44726" /><Relationship Type="http://schemas.openxmlformats.org/officeDocument/2006/relationships/notesMaster" Target="/ppt/notesMasters/notesMaster1.xml" Id="Re7c0b436e9e4415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ad583132e324ea9" /><Relationship Type="http://schemas.openxmlformats.org/officeDocument/2006/relationships/notesMaster" Target="/ppt/notesMasters/notesMaster1.xml" Id="R187b8c2fd3a042d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0de63d5567e45f4" /><Relationship Type="http://schemas.openxmlformats.org/officeDocument/2006/relationships/notesMaster" Target="/ppt/notesMasters/notesMaster1.xml" Id="R40472f9c73c741f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retrieval question. Accept tentative ideas, then direct students to the module theory.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assets/desk-tidy-reference.png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Preview the three named theory sections and tell students what evidence they will retain.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weeks5-6/index.html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visual to explain the section. Ask students to connect each takeaway to the adjacent course theory; do not add unconfirmed practical details.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assets/combination-square.jpg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visual to explain the section. Ask students to connect each takeaway to the adjacent course theory; do not add unconfirmed practical details.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assets/tenon-saw.jpg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visual to explain the section. Ask students to connect each takeaway to the adjacent course theory; do not add unconfirmed practical details.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assets/steel-rule.jpeg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as a formative pause. Do not display or supply teacher-only answers.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weeks5-6/index.html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 the response process without giving an answer to a live student question.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weeks5-6/index.html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Finish with a student response, then return to the course module for checks, written evidence and folio saving.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assets/desk-tidy-reference.png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0b862418604f6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5596d542c654c1b" /><Relationship Type="http://schemas.openxmlformats.org/officeDocument/2006/relationships/slideLayout" Target="/ppt/slideLayouts/slideLayout1.xml" Id="R75b7f2cf3b9146c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5b7f2cf3b9146c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7d51ef3ecd46b3" /><Relationship Type="http://schemas.openxmlformats.org/officeDocument/2006/relationships/image" Target="/ppt/media/image.png" Id="R69cd31e177f94338" /><Relationship Type="http://schemas.openxmlformats.org/officeDocument/2006/relationships/notesSlide" Target="/ppt/notesSlides/notesSlide1.xml" Id="R41e1719280c84d1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f9fc942bb7414b" /><Relationship Type="http://schemas.openxmlformats.org/officeDocument/2006/relationships/notesSlide" Target="/ppt/notesSlides/notesSlide2.xml" Id="Rb6b02d3de55a4d6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b504b030be4271" /><Relationship Type="http://schemas.openxmlformats.org/officeDocument/2006/relationships/image" Target="/ppt/media/image.jpeg" Id="R38bceb75ecbc465f" /><Relationship Type="http://schemas.openxmlformats.org/officeDocument/2006/relationships/notesSlide" Target="/ppt/notesSlides/notesSlide3.xml" Id="R6c5dc09ae47a4ea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45f42e951547d9" /><Relationship Type="http://schemas.openxmlformats.org/officeDocument/2006/relationships/image" Target="/ppt/media/image2.jpeg" Id="R391741c74baa457e" /><Relationship Type="http://schemas.openxmlformats.org/officeDocument/2006/relationships/notesSlide" Target="/ppt/notesSlides/notesSlide4.xml" Id="R0b8b79cfcaf24ef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e6bf4b93d944e7" /><Relationship Type="http://schemas.openxmlformats.org/officeDocument/2006/relationships/image" Target="/ppt/media/image3.jpeg" Id="R5c331bf78560443e" /><Relationship Type="http://schemas.openxmlformats.org/officeDocument/2006/relationships/notesSlide" Target="/ppt/notesSlides/notesSlide5.xml" Id="Rb6e81de53c35498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e1a4374f5f4619" /><Relationship Type="http://schemas.openxmlformats.org/officeDocument/2006/relationships/notesSlide" Target="/ppt/notesSlides/notesSlide6.xml" Id="R8256d1344942470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b861e2cd4242c3" /><Relationship Type="http://schemas.openxmlformats.org/officeDocument/2006/relationships/notesSlide" Target="/ppt/notesSlides/notesSlide7.xml" Id="Ra2724388d494481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05bc667c064159" /><Relationship Type="http://schemas.openxmlformats.org/officeDocument/2006/relationships/image" Target="/ppt/media/image2.png" Id="R671be92f98bc4c82" /><Relationship Type="http://schemas.openxmlformats.org/officeDocument/2006/relationships/notesSlide" Target="/ppt/notesSlides/notesSlide8.xml" Id="Rd5f4f24305524d2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64DC542C-CC10-4349-840B-10B5C4DC4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38250"/>
            <a:ext cx="4953000" cy="2190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5000" b="1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5000" b="1">
                <a:solidFill>
                  <a:srgbClr val="173126"/>
                </a:solidFill>
                <a:latin typeface="Aptos"/>
                <a:ea typeface="Aptos"/>
                <a:cs typeface="Aptos"/>
              </a:rPr>
              <a:t>Plan before production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F7E4D6EA-E643-4E05-8157-D5481A719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71875"/>
            <a:ext cx="476250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00" b="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5A665F"/>
                </a:solidFill>
                <a:latin typeface="Aptos"/>
                <a:ea typeface="Aptos"/>
                <a:cs typeface="Aptos"/>
              </a:rPr>
              <a:t>Read the theory, check your understanding and save your own evidence.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720C52C8-C8F5-4948-86CB-4211AB865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81050"/>
            <a:ext cx="4381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8503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14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DESK TIDY · WEEKS 5-6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D3FEC9-763A-45F4-858A-76C4D2C60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438150"/>
            <a:ext cx="5810250" cy="5676900"/>
          </a:xfrm>
          <a:prstGeom xmlns:a="http://schemas.openxmlformats.org/drawingml/2006/main" prst="roundRect">
            <a:avLst>
              <a:gd name="adj" fmla="val 2013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941C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cd31e177f94338"/>
          <a:srcRect xmlns:a="http://schemas.openxmlformats.org/drawingml/2006/main" l="0" t="1228" r="0" b="12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48375" y="628650"/>
            <a:ext cx="5429250" cy="5295900"/>
          </a:xfrm>
          <a:prstGeom xmlns:a="http://schemas.openxmlformats.org/drawingml/2006/main" prst="roundRect">
            <a:avLst>
              <a:gd name="adj" fmla="val 2158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E3563D-C5BC-4152-B95B-2D7C6B28B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53000"/>
            <a:ext cx="476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BEFORE YOU BEGIN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What do you already know—and what evidence would prove it?</a:t>
            </a:r>
          </a:p>
        </p:txBody>
      </p:sp>
    </p:spTree>
    <p:extLst>
      <p:ext uri="{BB962C8B-B14F-4D97-AF65-F5344CB8AC3E}">
        <p14:creationId xmlns:p14="http://schemas.microsoft.com/office/powerpoint/2010/main" val="132823432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F38A28D6-A016-472B-8E9D-30FBECCEA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6493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B9CE0FEF-51C0-4EA1-B8D6-B8797DAE5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350"/>
            <a:ext cx="104775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73126"/>
                </a:solidFill>
                <a:latin typeface="Aptos"/>
                <a:ea typeface="Aptos"/>
                <a:cs typeface="Aptos"/>
              </a:rPr>
              <a:t>Three ideas build one evidence trail</a:t>
            </a:r>
          </a:p>
        </p:txBody>
      </p:sp>
      <p:cxnSp>
        <p:nvCxnSpPr>
          <p:cNvPr id="25" name="Google-Shape-2259-p159-4"/>
          <p:cNvCxnSpPr/>
          <p:nvPr/>
        </p:nvCxn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straightConnector1">
            <a:avLst/>
          </a:prstGeom>
          <a:ln xmlns:a="http://schemas.openxmlformats.org/drawingml/2006/main" w="0">
            <a:noFill/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82997E6F-129E-4BF8-9AC6-79F1B9155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60362BB6-7EF4-4DED-AB3C-DCADA7E98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6070AB5C-EE92-4587-AFA7-4FDD0DBE4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1BB47680-0EA5-4476-9BC4-C970FDD82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71700"/>
            <a:ext cx="6667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28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5E4954AE-EFDE-4890-A144-F2E3FC7E1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171700"/>
            <a:ext cx="6667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28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ACC1FA45-56F9-4E26-90F5-E8CB99085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71700"/>
            <a:ext cx="6667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28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08770A78-C138-4414-8E73-CD1E18108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81300"/>
            <a:ext cx="2419350" cy="213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Communicating the selected design with working drawings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Match: Confirm the drawings represent the approved design.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EF75FAE2-2945-439C-89BF-B26B8BA73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781300"/>
            <a:ext cx="2419350" cy="213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Cutting lists and a realistic production schedule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Good production starts with accurate information and a realistic sequence.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71B2876A-0BF6-4157-B18A-EF70B1BF5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781300"/>
            <a:ext cx="2419350" cy="213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Datums and accurate marking out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Select: Identify the reliable datum or reference edge.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88D932-45C4-4802-BC53-EFEAD8922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90625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00" b="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5A665F"/>
                </a:solidFill>
                <a:latin typeface="Aptos"/>
                <a:ea typeface="Aptos"/>
                <a:cs typeface="Aptos"/>
              </a:rPr>
              <a:t>Move from understanding → safe application → evidence you can explain.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D94DEEA-B87C-4FC7-B911-F7FE85CB5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2952750" cy="3333750"/>
          </a:xfrm>
          <a:prstGeom xmlns:a="http://schemas.openxmlformats.org/drawingml/2006/main" prst="roundRect">
            <a:avLst>
              <a:gd name="adj" fmla="val 3871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AD2A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143DE2-4970-48E3-8CBE-827D55F9E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952625"/>
            <a:ext cx="2952750" cy="3333750"/>
          </a:xfrm>
          <a:prstGeom xmlns:a="http://schemas.openxmlformats.org/drawingml/2006/main" prst="roundRect">
            <a:avLst>
              <a:gd name="adj" fmla="val 3871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941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0C3839-D2CF-41F5-9E87-9BBBA9E84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952625"/>
            <a:ext cx="2952750" cy="3333750"/>
          </a:xfrm>
          <a:prstGeom xmlns:a="http://schemas.openxmlformats.org/drawingml/2006/main" prst="roundRect">
            <a:avLst>
              <a:gd name="adj" fmla="val 3871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AD2AE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73138033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64135641-6D6D-40B6-AF88-58E0463A9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6493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A00683D0-A6F1-4823-9EC5-AEBBC6AE2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3400"/>
            <a:ext cx="5191125" cy="1504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91108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500" b="1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3500" b="1">
                <a:solidFill>
                  <a:srgbClr val="173126"/>
                </a:solidFill>
                <a:latin typeface="Aptos"/>
                <a:ea typeface="Aptos"/>
                <a:cs typeface="Aptos"/>
              </a:rPr>
              <a:t>Communicating the selected design with working drawings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7B53DDFF-7032-4002-B0B5-03F6646F6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49053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01 Match: Confirm the drawings represent the approved design.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155182AC-9F56-4419-9671-535D93DAF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5125"/>
            <a:ext cx="49053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02 Compare: Check that components align across all views.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65F57BF0-CC08-4CF5-A0B5-2788DCE22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49053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03 Dimension: Record required sizes clearly in millimetres.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A3DCB6C1-837D-4326-B39C-D94416A36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49053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6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EVIDENCE Save a labelled note, check or photograph that proves your decision.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173229-EE14-4FF0-8FAF-2CBB761E0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7783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13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THEORY 1 OF 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6D041F-DFAF-4CD2-B67D-BFF14696F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52450"/>
            <a:ext cx="5619750" cy="5524500"/>
          </a:xfrm>
          <a:prstGeom xmlns:a="http://schemas.openxmlformats.org/drawingml/2006/main" prst="roundRect">
            <a:avLst>
              <a:gd name="adj" fmla="val 206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941C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bceb75ecbc465f"/>
          <a:srcRect xmlns:a="http://schemas.openxmlformats.org/drawingml/2006/main" l="0" t="12366" r="0" b="1236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00775" y="704850"/>
            <a:ext cx="5314950" cy="4000500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2D330E-D61F-4A90-8067-A0F005F24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810125"/>
            <a:ext cx="51625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00" b="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5A665F"/>
                </a:solidFill>
                <a:latin typeface="Aptos"/>
                <a:ea typeface="Aptos"/>
                <a:cs typeface="Aptos"/>
              </a:rPr>
              <a:t>A drawing controls production only when its dimensions and conventions are checked.</a:t>
            </a:r>
          </a:p>
        </p:txBody>
      </p:sp>
    </p:spTree>
    <p:extLst>
      <p:ext uri="{BB962C8B-B14F-4D97-AF65-F5344CB8AC3E}">
        <p14:creationId xmlns:p14="http://schemas.microsoft.com/office/powerpoint/2010/main" val="159984959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74F2C4DC-DA1A-49F8-A99C-5C6F0D167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6493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A256FDCC-66C6-40D6-83DA-5F1C78235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3400"/>
            <a:ext cx="5191125" cy="1504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95245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500" b="1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3500" b="1">
                <a:solidFill>
                  <a:srgbClr val="173126"/>
                </a:solidFill>
                <a:latin typeface="Aptos"/>
                <a:ea typeface="Aptos"/>
                <a:cs typeface="Aptos"/>
              </a:rPr>
              <a:t>Cutting lists and a realistic production schedule</a:t>
            </a:r>
          </a:p>
        </p:txBody>
      </p:sp>
      <p:cxnSp>
        <p:nvCxnSpPr>
          <p:cNvPr id="25" name="Google-Shape-2259-p159-4"/>
          <p:cNvCxnSpPr/>
          <p:nvPr/>
        </p:nvCxn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straightConnector1">
            <a:avLst/>
          </a:prstGeom>
          <a:ln xmlns:a="http://schemas.openxmlformats.org/drawingml/2006/main" w="0">
            <a:noFill/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6E402547-1390-4B42-9353-7FE3ACE2B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814462C4-1309-4274-AC31-FB1F60D52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76F463FE-0949-4E8F-81F5-A8D44743A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BD3881D8-3C4A-4F46-8102-3815338CA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09800"/>
            <a:ext cx="4953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A24A3E8D-5E18-4B11-BA35-B381228E0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09925"/>
            <a:ext cx="4953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0FD39088-8A87-4DB3-B5DF-E832453FC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10050"/>
            <a:ext cx="4953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BE1DA11A-B9F8-4548-B0CC-CE94121D1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114550"/>
            <a:ext cx="4429125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Good production starts with accurate information and a realistic sequence.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5654AE80-6622-4D94-94B6-DA9CD2609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14675"/>
            <a:ext cx="4429125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9304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Once the Desk Tidy design and working drawings are approved, the next step is to prepare a cutting list.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87CB784E-1F10-4E80-911D-B67A4030F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114800"/>
            <a:ext cx="4429125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Accuracy matters because one mistake can affect several later stages.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2E22C5-8629-4B65-8C0F-BF81102F0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7783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13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THEORY 2 OF 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389AB7-2E92-4801-B629-FF6BE7F72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52450"/>
            <a:ext cx="5619750" cy="5524500"/>
          </a:xfrm>
          <a:prstGeom xmlns:a="http://schemas.openxmlformats.org/drawingml/2006/main" prst="roundRect">
            <a:avLst>
              <a:gd name="adj" fmla="val 206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941C"/>
            </a:solidFill>
            <a:prstDash val="solid"/>
          </a:ln>
        </p:spPr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1741c74baa457e"/>
          <a:srcRect xmlns:a="http://schemas.openxmlformats.org/drawingml/2006/main" l="0" t="12366" r="0" b="1236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00775" y="704850"/>
            <a:ext cx="5314950" cy="4000500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AFBA98-14E5-4F8B-A0F3-41ADC8718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810125"/>
            <a:ext cx="51625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00" b="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5A665F"/>
                </a:solidFill>
                <a:latin typeface="Aptos"/>
                <a:ea typeface="Aptos"/>
                <a:cs typeface="Aptos"/>
              </a:rPr>
              <a:t>Plan parts, sequence and checkpoints before material is cut.</a:t>
            </a:r>
          </a:p>
        </p:txBody>
      </p:sp>
    </p:spTree>
    <p:extLst>
      <p:ext uri="{BB962C8B-B14F-4D97-AF65-F5344CB8AC3E}">
        <p14:creationId xmlns:p14="http://schemas.microsoft.com/office/powerpoint/2010/main" val="184050001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75AAA5B2-C01B-447E-898E-18CA224E3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6493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AA507315-AA88-4AC4-AF29-DC0454CF3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3400"/>
            <a:ext cx="5191125" cy="1504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500" b="1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3500" b="1">
                <a:solidFill>
                  <a:srgbClr val="173126"/>
                </a:solidFill>
                <a:latin typeface="Aptos"/>
                <a:ea typeface="Aptos"/>
                <a:cs typeface="Aptos"/>
              </a:rPr>
              <a:t>Datums and accurate marking out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571C8B7C-22C6-4F7C-84D3-0929C75E7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49053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01 Select: Identify the reliable datum or reference edge.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3E04426F-5491-4A9F-AB48-8C4BBC760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5125"/>
            <a:ext cx="49053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02 Measure: Work from zero and read directly above the rule.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D08093EE-2A42-4209-8A61-F30AA602B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49053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03 Mark: Use a sharp pencil and extend square lines clearly.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4FAB061D-DD52-4B05-B737-7F3BB11E3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49053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6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EVIDENCE Save a labelled note, check or photograph that proves your decision.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27D29F-C449-4387-BA00-523245E59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7783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13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THEORY 3 OF 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2B6898-CB67-45A2-9BD0-039DA959A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52450"/>
            <a:ext cx="5619750" cy="5524500"/>
          </a:xfrm>
          <a:prstGeom xmlns:a="http://schemas.openxmlformats.org/drawingml/2006/main" prst="roundRect">
            <a:avLst>
              <a:gd name="adj" fmla="val 206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941C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331bf78560443e"/>
          <a:srcRect xmlns:a="http://schemas.openxmlformats.org/drawingml/2006/main" l="20354" t="0" r="2035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00775" y="704850"/>
            <a:ext cx="5314950" cy="4000500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770822-2139-44C5-BD19-07A26685A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810125"/>
            <a:ext cx="51625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00" b="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5A665F"/>
                </a:solidFill>
                <a:latin typeface="Aptos"/>
                <a:ea typeface="Aptos"/>
                <a:cs typeface="Aptos"/>
              </a:rPr>
              <a:t>Work from a datum and check each measurement before cutting.</a:t>
            </a:r>
          </a:p>
        </p:txBody>
      </p:sp>
    </p:spTree>
    <p:extLst>
      <p:ext uri="{BB962C8B-B14F-4D97-AF65-F5344CB8AC3E}">
        <p14:creationId xmlns:p14="http://schemas.microsoft.com/office/powerpoint/2010/main" val="53592712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B2235C89-9738-4755-8FDA-E77AAEB0B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6493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C8B22E54-F6DA-47E7-A87E-253D79147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3400"/>
            <a:ext cx="10287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73126"/>
                </a:solidFill>
                <a:latin typeface="Aptos"/>
                <a:ea typeface="Aptos"/>
                <a:cs typeface="Aptos"/>
              </a:rPr>
              <a:t>Pause and check what you can explain</a:t>
            </a:r>
          </a:p>
        </p:txBody>
      </p:sp>
      <p:cxnSp>
        <p:nvCxnSpPr>
          <p:cNvPr id="25" name="Google-Shape-2259-p159-4"/>
          <p:cNvCxnSpPr/>
          <p:nvPr/>
        </p:nvCxn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straightConnector1">
            <a:avLst/>
          </a:prstGeom>
          <a:ln xmlns:a="http://schemas.openxmlformats.org/drawingml/2006/main" w="0">
            <a:noFill/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7C746A1F-96B1-4E54-9EC0-D44929B9F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6349047A-C691-4DF4-A0E9-4675BF970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5C1B384A-7189-481A-8587-DEE65E86F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E49A804C-3639-4BBD-8931-EE2D8EC9C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66950"/>
            <a:ext cx="6667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8557D9FE-CAA7-43A6-8C84-5D7DB0061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266950"/>
            <a:ext cx="6667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9D539B54-B6FF-487A-A0D4-DF8AD1ADA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266950"/>
            <a:ext cx="6667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0F7066E5-C68E-4347-A96B-59B75DBB6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914650"/>
            <a:ext cx="266700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8912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What is the key idea in “Communicating the selected design with working drawings”?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What evidence would show that you understood it?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8673DD7C-A813-458A-959D-4DEA457AE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914650"/>
            <a:ext cx="266700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8912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What is the key idea in “Cutting lists and a realistic production schedule”?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What evidence would show that you understood it?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33B5EBC9-EFC9-49BA-BFCF-A8F980F5B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914650"/>
            <a:ext cx="266700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940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What is the key idea in “Datums and accurate marking out”?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What evidence would show that you understood it?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1467D8-C2C1-44C8-9082-D4D98C798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00150"/>
            <a:ext cx="838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00" b="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5A665F"/>
                </a:solidFill>
                <a:latin typeface="Aptos"/>
                <a:ea typeface="Aptos"/>
                <a:cs typeface="Aptos"/>
              </a:rPr>
              <a:t>Answer aloud or jot one clear sentence for each question.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546D7A-C0F0-4A0B-BDA7-7FA16D802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57400"/>
            <a:ext cx="3238500" cy="2781300"/>
          </a:xfrm>
          <a:prstGeom xmlns:a="http://schemas.openxmlformats.org/drawingml/2006/main" prst="roundRect">
            <a:avLst>
              <a:gd name="adj" fmla="val 411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AD2A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18DFD4-31B1-482E-8764-4AA5C78FE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057400"/>
            <a:ext cx="3238500" cy="2781300"/>
          </a:xfrm>
          <a:prstGeom xmlns:a="http://schemas.openxmlformats.org/drawingml/2006/main" prst="roundRect">
            <a:avLst>
              <a:gd name="adj" fmla="val 411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941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370668-17D8-4DA2-AF4D-D51BA4FB3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057400"/>
            <a:ext cx="3238500" cy="2781300"/>
          </a:xfrm>
          <a:prstGeom xmlns:a="http://schemas.openxmlformats.org/drawingml/2006/main" prst="roundRect">
            <a:avLst>
              <a:gd name="adj" fmla="val 411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AD2AE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35044090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1BF34342-2584-4B1C-8311-9EBE9D6F6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6493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A6220D88-A153-4A77-B325-83A56B414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350"/>
            <a:ext cx="10287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73126"/>
                </a:solidFill>
                <a:latin typeface="Aptos"/>
                <a:ea typeface="Aptos"/>
                <a:cs typeface="Aptos"/>
              </a:rPr>
              <a:t>Build a response that shows your thinking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7634A320-5E4B-4D15-8B29-7740F5BEF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81250"/>
            <a:ext cx="2095500" cy="160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READ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What is the question asking?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30EC1560-0E4E-4109-99BA-93F849745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381250"/>
            <a:ext cx="2095500" cy="160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SELECT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Return to the precise theory.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6289737C-8E25-4900-BBFE-86DD5BF24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381250"/>
            <a:ext cx="2095500" cy="160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EXPLAIN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Connect the idea to your evidence.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EB0B90AB-6B1A-4019-BCE0-2F4353FF0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2381250"/>
            <a:ext cx="2095500" cy="160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CHECK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Answer every part in your own words.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68BC53-1E03-43D7-9109-79AC1725D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19200"/>
            <a:ext cx="1000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00" b="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5A665F"/>
                </a:solidFill>
                <a:latin typeface="Aptos"/>
                <a:ea typeface="Aptos"/>
                <a:cs typeface="Aptos"/>
              </a:rPr>
              <a:t>Prompt: Explain one decision from this module and justify it with evidence.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6A9EA3-95E5-4D5F-BB92-2DD1A0F21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14550"/>
            <a:ext cx="2619375" cy="2381250"/>
          </a:xfrm>
          <a:prstGeom xmlns:a="http://schemas.openxmlformats.org/drawingml/2006/main" prst="roundRect">
            <a:avLst>
              <a:gd name="adj" fmla="val 48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AD2A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271B85-927D-4F07-BEBC-5B039156D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114550"/>
            <a:ext cx="2619375" cy="2381250"/>
          </a:xfrm>
          <a:prstGeom xmlns:a="http://schemas.openxmlformats.org/drawingml/2006/main" prst="roundRect">
            <a:avLst>
              <a:gd name="adj" fmla="val 48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AD2A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4A77A5-D7E5-4164-8A22-C5E5F6D5E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114550"/>
            <a:ext cx="2619375" cy="2381250"/>
          </a:xfrm>
          <a:prstGeom xmlns:a="http://schemas.openxmlformats.org/drawingml/2006/main" prst="roundRect">
            <a:avLst>
              <a:gd name="adj" fmla="val 48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941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8952F6-C27A-4D96-AD74-3A9185603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2114550"/>
            <a:ext cx="2619375" cy="2381250"/>
          </a:xfrm>
          <a:prstGeom xmlns:a="http://schemas.openxmlformats.org/drawingml/2006/main" prst="roundRect">
            <a:avLst>
              <a:gd name="adj" fmla="val 48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AD2A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854EB8-D8C9-4177-B370-EEA97194B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72050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7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Sentence starter: I chose … because … The evidence I will save is …</a:t>
            </a:r>
          </a:p>
        </p:txBody>
      </p:sp>
    </p:spTree>
    <p:extLst>
      <p:ext uri="{BB962C8B-B14F-4D97-AF65-F5344CB8AC3E}">
        <p14:creationId xmlns:p14="http://schemas.microsoft.com/office/powerpoint/2010/main" val="120631080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E5022C8E-AD61-4A8E-9AA5-BB7AB4F21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52550"/>
            <a:ext cx="5810250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94145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4200" b="1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4200" b="1">
                <a:solidFill>
                  <a:srgbClr val="173126"/>
                </a:solidFill>
                <a:latin typeface="Aptos"/>
                <a:ea typeface="Aptos"/>
                <a:cs typeface="Aptos"/>
              </a:rPr>
              <a:t>Exit ticket: prove what you learned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59A667BD-6E05-4D2B-B757-03521D088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542925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2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2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1. Name one decision you can now justify.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22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2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2. Identify the evidence you will save.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22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2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3. State your next safe, accurate action.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0E2571BF-6957-4B3C-8D56-B8C711D1E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19150"/>
            <a:ext cx="2857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8503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14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YOUR NEXT MOVE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1be92f98bc4c82"/>
          <a:srcRect xmlns:a="http://schemas.openxmlformats.org/drawingml/2006/main" l="11806" t="0" r="1180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53250" y="0"/>
            <a:ext cx="523875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394171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2026-08-12T04:49:52.5380000Z</dcterms:created>
  <dcterms:modified xsi:type="dcterms:W3CDTF">2026-08-12T04:49:52.5380000Z</dcterms:modified>
</coreProperties>
</file>